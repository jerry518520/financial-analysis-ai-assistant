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E4D8C">
              <a:alpha val="50000"/>
            </a:srgbClr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财报分析助手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Report AI Assistant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RAG + LangGraph Agent 的智能财报分析系统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1188720" cy="292608"/>
          </a:xfrm>
          <a:prstGeom prst="rect">
            <a:avLst/>
          </a:prstGeom>
          <a:solidFill>
            <a:srgbClr val="2D5F8A"/>
          </a:solidFill>
          <a:ln w="6350">
            <a:solidFill>
              <a:srgbClr val="3A7A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033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703320"/>
            <a:ext cx="1188720" cy="292608"/>
          </a:xfrm>
          <a:prstGeom prst="rect">
            <a:avLst/>
          </a:prstGeom>
          <a:solidFill>
            <a:srgbClr val="2D5F8A"/>
          </a:solidFill>
          <a:ln w="6350">
            <a:solidFill>
              <a:srgbClr val="3A7A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7033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3703320"/>
            <a:ext cx="1188720" cy="292608"/>
          </a:xfrm>
          <a:prstGeom prst="rect">
            <a:avLst/>
          </a:prstGeom>
          <a:solidFill>
            <a:srgbClr val="2D5F8A"/>
          </a:solidFill>
          <a:ln w="6350">
            <a:solidFill>
              <a:srgbClr val="3A7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7033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1188720" cy="292608"/>
          </a:xfrm>
          <a:prstGeom prst="rect">
            <a:avLst/>
          </a:prstGeom>
          <a:solidFill>
            <a:srgbClr val="2D5F8A"/>
          </a:solidFill>
          <a:ln w="6350">
            <a:solidFill>
              <a:srgbClr val="3A7A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4114800"/>
            <a:ext cx="1188720" cy="292608"/>
          </a:xfrm>
          <a:prstGeom prst="rect">
            <a:avLst/>
          </a:prstGeom>
          <a:solidFill>
            <a:srgbClr val="2D5F8A"/>
          </a:solidFill>
          <a:ln w="6350">
            <a:solidFill>
              <a:srgbClr val="3A7A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41148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4114800"/>
            <a:ext cx="1188720" cy="292608"/>
          </a:xfrm>
          <a:prstGeom prst="rect">
            <a:avLst/>
          </a:prstGeom>
          <a:solidFill>
            <a:srgbClr val="2D5F8A"/>
          </a:solidFill>
          <a:ln w="6350">
            <a:solidFill>
              <a:srgbClr val="3A7A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1148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课程设计答辩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58368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65836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1344168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176479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&amp; Objectives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34440"/>
            <a:ext cx="65836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34440"/>
            <a:ext cx="65836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50408" y="1344168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系统整体架构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50408" y="176479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658368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68880"/>
            <a:ext cx="65836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15568" y="2578608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核心功能详解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299923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468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468880"/>
            <a:ext cx="65836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68880"/>
            <a:ext cx="65836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50408" y="2578608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 工作原理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50408" y="299923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 Agent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03320"/>
            <a:ext cx="658368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03320"/>
            <a:ext cx="65836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15568" y="3813048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财务计算工具链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15568" y="423367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Calculator (19 Tools)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7033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03320"/>
            <a:ext cx="65836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03320"/>
            <a:ext cx="65836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50408" y="3813048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测试体系与工程化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50408" y="423367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System &amp;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项目背景与目标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Background &amp; 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4864" cy="35661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财报动辄 100+ 页，专业术语密集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95144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普通投资者读懂财报门槛极高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0720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人工分析耗时费力，效率低下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1927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财报中存在大量无边框复杂表格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831336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传统工具难以对财务指标自动计算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143000"/>
            <a:ext cx="54864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2344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系统目标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自然语言提问，零门槛读懂财报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95144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混合引擎精准解析复杂表格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0720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技术精准检索相关内容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31927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 自动规划推理计算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831336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一键部署，开箱即用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项目定位：面向非金融专业人士的 MVP（最小可行性产品） · 技术栈覆盖 AI 应用开发全流程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系统整体架构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1A3C6E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前端层  |  Streamlit — 上传PDF · 智能对话 · 摘要生成 · 溯源展示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938528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39696"/>
            <a:ext cx="859536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9696"/>
            <a:ext cx="85953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39696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后端层  |  FastAPI — /upload · /chat · /analyze/summary · /highlight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2697480" cy="16916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35808"/>
            <a:ext cx="2697480" cy="43891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35808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文档解析引擎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PyMuPDF（文本页）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LlamaParse（表格页）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4261104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MD5 本地缓存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63824" y="3035808"/>
            <a:ext cx="2697480" cy="1691640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63824" y="3035808"/>
            <a:ext cx="2697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3035808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向量服务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00984" y="35661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BAAI/bge-m3 Embedding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00984" y="391363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FAISS 向量数据库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00984" y="4261104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按页切分 + 溯源映射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53328" y="3035808"/>
            <a:ext cx="2697480" cy="169164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3035808"/>
            <a:ext cx="269748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3035808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0488" y="35661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Planner 任务规划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90488" y="391363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 工具执行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90488" y="4261104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Reflection 自我反思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0D9488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财务计算工具链（19种）  ·  DeepSeek LLM  ·  Docker 容器化部署  ·  Poetry 依赖管理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混合 PDF 解析引擎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Hybrid Document Parser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1188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25880"/>
            <a:ext cx="118872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25880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用户上传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1764792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325880"/>
            <a:ext cx="1234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08760" y="1325880"/>
            <a:ext cx="1234440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325880"/>
            <a:ext cx="1234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MD5 缓存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1764792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325880"/>
            <a:ext cx="1234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4640" y="1325880"/>
            <a:ext cx="123444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325880"/>
            <a:ext cx="1234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PyMuPDF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扫描分流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69080" y="1764792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325880"/>
            <a:ext cx="1234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60520" y="1325880"/>
            <a:ext cx="12344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325880"/>
            <a:ext cx="1234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LlamaParse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表格页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1764792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325880"/>
            <a:ext cx="1234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325880"/>
            <a:ext cx="123444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325880"/>
            <a:ext cx="1234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合并全量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1764792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325880"/>
            <a:ext cx="1188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325880"/>
            <a:ext cx="11887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325880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写入缓存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持久化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423160"/>
            <a:ext cx="4023360" cy="24231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423160"/>
            <a:ext cx="54864" cy="24231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25146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PyMuPDF（普通页）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1208" y="29992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本地提取，无需网络，速度极快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" y="334670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find_tables() 检测有边框表格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" y="369417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启发式规则检测无边框表格：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财报关键词匹配（资产负债表等）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" y="4389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数字密度检测（&gt;15个数字串）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2423160"/>
            <a:ext cx="4023360" cy="2423160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423160"/>
            <a:ext cx="54864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25146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LlamaParse（表格页）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01768" y="29992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premium_mode + language="zh" 优化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01768" y="334670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Markdown 格式，保留结构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01768" y="369417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最多处理 20 页（防超时/超额度）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01768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表格页过多时自动降级纯文本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01768" y="4389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MD5 哈希缓存：同文件只解析一次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RAG 向量检索系统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Retrieval-Augmented Generation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构建阶段（索引）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全量 Markdown 文本输入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按 "--- Page N ---" 按页切分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超长页（&gt;3000字）再拆子块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每块记录 metadata {page_num}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BAAI/bge-m3 向量化（中文优化）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09651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⑥ 写入 FAISS 并持久化到磁盘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4023360" cy="3749040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14300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123444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检索阶段（查询）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01768" y="171907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用户问题向量化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01768" y="222199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FAISS similarity_search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01768" y="272491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top_k=3（问答）/ top_k=2×7（摘要）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01768" y="322783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返回最相关文本 + 来源页码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01768" y="373075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前端渲染对应页面截图（溯源）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01768" y="4389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关键参数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466344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模型: BAAI/bge-m3  |  向量维度: 1024  |  GPU加速: CUDA自动检测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LangGraph AI Agent 工作原理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Loop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1920240" cy="47548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Planner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560320"/>
            <a:ext cx="17739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将复杂问题分解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为多个子任务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651760"/>
            <a:ext cx="685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0116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2011680"/>
            <a:ext cx="19202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01168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2560320"/>
            <a:ext cx="17739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调用计算工具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获取精确数值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651760"/>
            <a:ext cx="685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0116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011680"/>
            <a:ext cx="1920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1168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Reflection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反思节点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560320"/>
            <a:ext cx="17739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审查结果合理性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FINISH/CONTINUE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651760"/>
            <a:ext cx="685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20116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2011680"/>
            <a:ext cx="19202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01168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Answer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生成回答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59752" y="2560320"/>
            <a:ext cx="17739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综合所有结果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Markdown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3429000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CONTINUE（未完成，最多5轮）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337560"/>
            <a:ext cx="38404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931920"/>
            <a:ext cx="54864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400507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AgentState 状态机（贯穿全流程）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" y="434340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question · context · plan[] · tool_calls[] · tool_results[] · reflection · final_answer · iteration(0-5) · should_continue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财务计算工具链 · 19 种工具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Financial Calculator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1945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194560" cy="4572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盈利能力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719072"/>
            <a:ext cx="19751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19072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增长率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2286000"/>
            <a:ext cx="19751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86000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毛利率/净利率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852928"/>
            <a:ext cx="19751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5292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ROE 净资产收益率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3419856"/>
            <a:ext cx="19751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419856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EPS 每股收益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3986784"/>
            <a:ext cx="19751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98678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 市盈率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32888" y="1143000"/>
            <a:ext cx="1737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32888" y="1143000"/>
            <a:ext cx="1737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1143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偿债能力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42616" y="1719072"/>
            <a:ext cx="15179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2616" y="1719072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资产负债率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42616" y="2286000"/>
            <a:ext cx="15179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42616" y="228600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流动比率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42616" y="2852928"/>
            <a:ext cx="151790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2852928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速动比率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4256" y="1143000"/>
            <a:ext cx="1691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34256" y="1143000"/>
            <a:ext cx="16916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4256" y="11430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运营能力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43984" y="1719072"/>
            <a:ext cx="147218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3984" y="1719072"/>
            <a:ext cx="1472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资产周转率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43984" y="2286000"/>
            <a:ext cx="147218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43984" y="2286000"/>
            <a:ext cx="1472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存货周转率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89904" y="1143000"/>
            <a:ext cx="1783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1143000"/>
            <a:ext cx="17830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9904" y="114300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分析工具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99632" y="1719072"/>
            <a:ext cx="156362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1719072"/>
            <a:ext cx="1563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股息率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99632" y="2286000"/>
            <a:ext cx="156362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286000"/>
            <a:ext cx="1563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CAGR 趋势分析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9632" y="2852928"/>
            <a:ext cx="156362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852928"/>
            <a:ext cx="1563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同比分析 YoY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99632" y="3419856"/>
            <a:ext cx="156362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3419856"/>
            <a:ext cx="1563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行业对比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936992" y="1143000"/>
            <a:ext cx="1691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936992" y="1143000"/>
            <a:ext cx="16916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36992" y="11430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统计工具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46720" y="1719072"/>
            <a:ext cx="147218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1719072"/>
            <a:ext cx="1472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均值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046720" y="2286000"/>
            <a:ext cx="147218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2286000"/>
            <a:ext cx="1472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最大/最小值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046720" y="2852928"/>
            <a:ext cx="147218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0" y="2852928"/>
            <a:ext cx="1472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方差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046720" y="3419856"/>
            <a:ext cx="1472184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0" y="3419856"/>
            <a:ext cx="1472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图表数据生成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589520" y="128016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8" name="Text 56"/>
          <p:cNvSpPr/>
          <p:nvPr/>
        </p:nvSpPr>
        <p:spPr>
          <a:xfrm>
            <a:off x="7406640" y="22402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系统功能演示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377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280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上传财报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719072"/>
            <a:ext cx="21031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84048" y="1719072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PDF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1920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🚀 开始解析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解析成功！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188720"/>
            <a:ext cx="6035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1280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智能分析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1719072"/>
            <a:ext cx="25603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71907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营收是多少？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1719072"/>
            <a:ext cx="25603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71907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净利润增长率？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71800" y="2157984"/>
            <a:ext cx="25603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15798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资产负债率？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2157984"/>
            <a:ext cx="25603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15798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ROE 是多少？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71800" y="2697480"/>
            <a:ext cx="576072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715768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🤖  根据财报数据，2024年营业收入为 236.8亿元，同比增长 18.3%。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主要受益于核心业务板块强劲增长……（附溯源截图）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71800" y="3401568"/>
            <a:ext cx="576072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3401568"/>
            <a:ext cx="5577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📄 来源：第 12 页（显示对应财报页面截图）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71800" y="3977640"/>
            <a:ext cx="2560320" cy="38404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9776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✨ 生成核心摘要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846320"/>
            <a:ext cx="1645920" cy="2011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4632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 解析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48256" y="4846320"/>
            <a:ext cx="1645920" cy="2011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484632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检索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22192" y="4846320"/>
            <a:ext cx="1645920" cy="2011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484632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推理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96128" y="4846320"/>
            <a:ext cx="1645920" cy="2011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484632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指标计算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70064" y="4846320"/>
            <a:ext cx="1645920" cy="2011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0064" y="484632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溯源展示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FastAPI 后端接口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Backend REST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286000" cy="566928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 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170432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健康检查，返回 {"status":"ok"}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2286000" cy="566928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 /upload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0" y="1828800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PDF上传 → 混合解析 → 构建RAG向量库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87168"/>
            <a:ext cx="2286000" cy="566928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8716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 /chat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0" y="2487168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RAG检索上下文 + Agent推理 → 回答+页码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45536"/>
            <a:ext cx="2286000" cy="566928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45536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 /analyze/summary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145536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多主题检索 → LLM生成结构化摘要报告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803904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03904"/>
            <a:ext cx="2286000" cy="566928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03904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 /highlight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0" y="3803904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渲染指定页面截图（带红框溯源标注）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462272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462272"/>
            <a:ext cx="2286000" cy="566928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462272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 /preview-chunks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0" y="4462272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预览文本切块效果（调试用途）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测试体系与工程化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Test System &amp; Engineering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920240" cy="25603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99032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自动化测试用例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43000"/>
            <a:ext cx="1920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399032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60320" y="1965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测试模块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43000"/>
            <a:ext cx="1920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99032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财务计算测试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143000"/>
            <a:ext cx="19202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399032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858000" y="1965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可复现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395728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395728"/>
            <a:ext cx="5029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9572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239572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test_financial_calculator.py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43400" y="239572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19种财务公式、边界值、异常处理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26080"/>
            <a:ext cx="502920" cy="4572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2608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29260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test_agent_logic.py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43400" y="29260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规划/执行/反思/回答节点，Mock LLM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456432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456432"/>
            <a:ext cx="502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45643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120" y="34564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test_rag_service.py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343400" y="345643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向量库构建/检索/持久化/页码映射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986784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986784"/>
            <a:ext cx="502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986784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0120" y="39867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test_api_endpoints.py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343400" y="398678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FastAPI接口功能测试，含异步测试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4517136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4517136"/>
            <a:ext cx="5029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517136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60120" y="451713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test_document_parser_hybrid.py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343400" y="4517136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混合解析引擎测试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技术栈总览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1600200" cy="4114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627632"/>
            <a:ext cx="1600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691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12344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7568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&gt;=1.48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30428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交互式Web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1143000"/>
            <a:ext cx="16916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1430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74520" y="1627632"/>
            <a:ext cx="1691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65960" y="169164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2075688"/>
            <a:ext cx="13258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07568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&gt;=0.116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65960" y="230428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异步REST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2770632"/>
            <a:ext cx="1691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965960" y="283464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Uvicorn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57400" y="3218688"/>
            <a:ext cx="13258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321868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&gt;=0.35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65960" y="344728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ASGI服务器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11880" y="1143000"/>
            <a:ext cx="1920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11430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AI核心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11880" y="162763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03320" y="16916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94760" y="2075688"/>
            <a:ext cx="15544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207568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最新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03320" y="23042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Agent工作流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11880" y="277063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03320" y="28346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94760" y="3218688"/>
            <a:ext cx="15544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321868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deepseek-chat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03320" y="34472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LLM推理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11880" y="391363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703320" y="39776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BAAI/bge-m3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94760" y="4361688"/>
            <a:ext cx="15544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436168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5.1+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703320" y="45902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Embedding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sz="1100" dirty="0">
              <a:solidFill>
                <a:srgbClr val="1E29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577840" y="1143000"/>
            <a:ext cx="19202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11430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577840" y="162763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669280" y="16916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FAISS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760720" y="2075688"/>
            <a:ext cx="15544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207568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&gt;=1.13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0" y="23042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77840" y="277063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69280" y="28346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PyMuPDF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760720" y="3218688"/>
            <a:ext cx="15544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321868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&gt;=1.26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69280" y="34472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PDF解析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77840" y="391363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669280" y="39776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LlamaParse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760720" y="4361688"/>
            <a:ext cx="155448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436168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&gt;=0.6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0" y="45902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高精度表格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543800" y="1143000"/>
            <a:ext cx="1600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43800" y="114300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543800" y="1627632"/>
            <a:ext cx="1600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635240" y="1691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726680" y="2075688"/>
            <a:ext cx="12344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26680" y="207568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Compose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635240" y="230428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一键部署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543800" y="2770632"/>
            <a:ext cx="1600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635240" y="2834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Poetry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726680" y="3218688"/>
            <a:ext cx="12344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26680" y="321868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2.0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635240" y="344728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依赖管理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543800" y="3913632"/>
            <a:ext cx="1600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635240" y="3977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pytest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726680" y="4361688"/>
            <a:ext cx="12344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26680" y="436168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&gt;=8.0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635240" y="459028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测试框架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E4D8C">
              <a:alpha val="40000"/>
            </a:srgbClr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项目总结</a:t>
            </a:r>
            <a:endParaRPr lang="en-US" sz="30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1E4D8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57200" y="123444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57200" y="1234440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97280" y="1234440"/>
            <a:ext cx="7406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真正的 AI Agent：LangGraph 实现规划-执行-反思三节点循环，区别于简单LLM问答</a:t>
            </a:r>
            <a:endParaRPr lang="en-US" sz="135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57200" y="1965960"/>
            <a:ext cx="8229600" cy="621792"/>
          </a:xfrm>
          <a:prstGeom prst="rect">
            <a:avLst/>
          </a:prstGeom>
          <a:solidFill>
            <a:srgbClr val="1E4D8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57200" y="196596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57200" y="1965960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097280" y="1965960"/>
            <a:ext cx="7406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混合解析突破：双引擎解决无边框表格丢失的行业痛点，中文财报优化</a:t>
            </a:r>
            <a:endParaRPr lang="en-US" sz="135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457200" y="2697480"/>
            <a:ext cx="8229600" cy="621792"/>
          </a:xfrm>
          <a:prstGeom prst="rect">
            <a:avLst/>
          </a:prstGeom>
          <a:solidFill>
            <a:srgbClr val="1E4D8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457200" y="269748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457200" y="2697480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097280" y="2697480"/>
            <a:ext cx="7406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完整工程实践：168个测试用例 + Docker一键部署 + Poetry依赖管理</a:t>
            </a:r>
            <a:endParaRPr lang="en-US" sz="13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57200" y="3429000"/>
            <a:ext cx="8229600" cy="621792"/>
          </a:xfrm>
          <a:prstGeom prst="rect">
            <a:avLst/>
          </a:prstGeom>
          <a:solidFill>
            <a:srgbClr val="1E4D8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457200" y="342900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57200" y="3429000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097280" y="3429000"/>
            <a:ext cx="7406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结果可溯源：RAG检索记录来源页码，前端实时渲染截图，有据可查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 </a:t>
            </a:r>
            <a:endParaRPr 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2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3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4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5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6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7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8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9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10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11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12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13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14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15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ags/tag16.xml><?xml version="1.0" encoding="utf-8"?>
<p:tagLst xmlns:p="http://schemas.openxmlformats.org/presentationml/2006/main">
  <p:tag name="KSO_WM_DIAGRAM_VIRTUALLY_FRAME" val="{&quot;height&quot;:221.76,&quot;left&quot;:36,&quot;top&quot;:97.2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3263</Words>
  <Application>WPS 演示</Application>
  <PresentationFormat>On-screen Show (16:9)</PresentationFormat>
  <Paragraphs>512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Consolas</vt:lpstr>
      <vt:lpstr>Consolas</vt:lpstr>
      <vt:lpstr>Consolas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AI财报分析助手</dc:title>
  <dc:creator>Course Design</dc:creator>
  <dc:subject>PptxGenJS Presentation</dc:subject>
  <cp:lastModifiedBy>Lothric</cp:lastModifiedBy>
  <cp:revision>4</cp:revision>
  <dcterms:created xsi:type="dcterms:W3CDTF">2026-03-29T02:31:00Z</dcterms:created>
  <dcterms:modified xsi:type="dcterms:W3CDTF">2026-03-29T02:56:34Z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F6E363D7A69D433FBA977251CD6A195A_12</vt:lpwstr>
  </property>
  <property fmtid="{D5CDD505-2E9C-101B-9397-08002B2CF9AE}" pid="3" name="KSOProductBuildVer">
    <vt:lpwstr>2052-12.1.0.25225</vt:lpwstr>
  </property>
</Properties>
</file>